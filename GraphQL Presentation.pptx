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040FB"/>
          </a:solidFill>
          <a:ln w="12700">
            <a:solidFill>
              <a:srgbClr val="E040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86200" y="548640"/>
            <a:ext cx="1371600" cy="1371600"/>
          </a:xfrm>
          <a:prstGeom prst="ellipse">
            <a:avLst/>
          </a:prstGeom>
          <a:solidFill>
            <a:srgbClr val="7C4DFF"/>
          </a:solidFill>
          <a:ln w="38100">
            <a:solidFill>
              <a:srgbClr val="E040F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86200" y="54864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⬡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GraphQL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B0B0C8"/>
                </a:solidFill>
              </a:rPr>
              <a:t>Une révolution dans la communication entre API et clients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1828800" cy="502920"/>
          </a:xfrm>
          <a:prstGeom prst="roundRect">
            <a:avLst>
              <a:gd name="adj" fmla="val 18182"/>
            </a:avLst>
          </a:prstGeom>
          <a:solidFill>
            <a:srgbClr val="0F3460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6576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🔍 Flexible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0" y="3657600"/>
            <a:ext cx="1828800" cy="502920"/>
          </a:xfrm>
          <a:prstGeom prst="roundRect">
            <a:avLst>
              <a:gd name="adj" fmla="val 18182"/>
            </a:avLst>
          </a:prstGeom>
          <a:solidFill>
            <a:srgbClr val="0F3460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0" y="36576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⚡ Performant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3657600"/>
            <a:ext cx="1828800" cy="502920"/>
          </a:xfrm>
          <a:prstGeom prst="roundRect">
            <a:avLst>
              <a:gd name="adj" fmla="val 18182"/>
            </a:avLst>
          </a:prstGeom>
          <a:solidFill>
            <a:srgbClr val="0F3460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36576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📦 Typé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766560" y="3657600"/>
            <a:ext cx="1828800" cy="502920"/>
          </a:xfrm>
          <a:prstGeom prst="roundRect">
            <a:avLst>
              <a:gd name="adj" fmla="val 18182"/>
            </a:avLst>
          </a:prstGeom>
          <a:solidFill>
            <a:srgbClr val="0F3460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66560" y="36576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🔗 Introspectif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0" y="46634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0C8"/>
                </a:solidFill>
              </a:rPr>
              <a:t>Créé par Facebook · Open Source depuis 2015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040FB"/>
          </a:solidFill>
          <a:ln w="12700">
            <a:solidFill>
              <a:srgbClr val="E040F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Qu'est-ce que GraphQL 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3931920" cy="3657600"/>
          </a:xfrm>
          <a:prstGeom prst="rect">
            <a:avLst/>
          </a:prstGeom>
          <a:solidFill>
            <a:srgbClr val="0F3460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40FB"/>
                </a:solidFill>
              </a:rPr>
              <a:t>Définition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657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0B0C8"/>
                </a:solidFill>
              </a:rPr>
              <a:t>GraphQL est un </a:t>
            </a:r>
            <a:pPr indent="0" marL="0">
              <a:buNone/>
            </a:pPr>
            <a:r>
              <a:rPr lang="en-US" sz="1400" b="1" dirty="0">
                <a:solidFill>
                  <a:srgbClr val="E040FB"/>
                </a:solidFill>
              </a:rPr>
              <a:t>langage de requête</a:t>
            </a:r>
            <a:pPr indent="0" marL="0">
              <a:buNone/>
            </a:pPr>
            <a:r>
              <a:rPr lang="en-US" sz="1400" dirty="0">
                <a:solidFill>
                  <a:srgbClr val="B0B0C8"/>
                </a:solidFill>
              </a:rPr>
              <a:t> pour les APIs, ainsi qu'un runtime pour exécuter ces requêtes.
</a:t>
            </a:r>
            <a:pPr indent="0" marL="0">
              <a:buNone/>
            </a:pPr>
            <a:r>
              <a:rPr lang="en-US" sz="1400" dirty="0">
                <a:solidFill>
                  <a:srgbClr val="B0B0C8"/>
                </a:solidFill>
              </a:rPr>
              <a:t>Il permet au client de demander </a:t>
            </a:r>
            <a:pPr indent="0" marL="0">
              <a:buNone/>
            </a:pPr>
            <a:r>
              <a:rPr lang="en-US" sz="1400" b="1" dirty="0">
                <a:solidFill>
                  <a:srgbClr val="00E5A0"/>
                </a:solidFill>
              </a:rPr>
              <a:t>exactement les données dont il a besoin</a:t>
            </a:r>
            <a:pPr indent="0" marL="0">
              <a:buNone/>
            </a:pPr>
            <a:r>
              <a:rPr lang="en-US" sz="1400" dirty="0">
                <a:solidFill>
                  <a:srgbClr val="B0B0C8"/>
                </a:solidFill>
              </a:rPr>
              <a:t> — ni plus, ni moins.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914400"/>
            <a:ext cx="4114800" cy="804672"/>
          </a:xfrm>
          <a:prstGeom prst="rect">
            <a:avLst/>
          </a:prstGeom>
          <a:solidFill>
            <a:srgbClr val="16213E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9601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📡 Un seul endpoint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754880" y="12801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0C8"/>
                </a:solidFill>
              </a:rPr>
              <a:t>Toutes les requêtes passent par /graphql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828800"/>
            <a:ext cx="4114800" cy="804672"/>
          </a:xfrm>
          <a:prstGeom prst="rect">
            <a:avLst/>
          </a:prstGeom>
          <a:solidFill>
            <a:srgbClr val="16213E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8745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🎯 Demande précise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754880" y="21945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0C8"/>
                </a:solidFill>
              </a:rPr>
              <a:t>Le client choisit les champs retournés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2743200"/>
            <a:ext cx="4114800" cy="804672"/>
          </a:xfrm>
          <a:prstGeom prst="rect">
            <a:avLst/>
          </a:prstGeom>
          <a:solidFill>
            <a:srgbClr val="16213E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27889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🔄 Fortement typé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754880" y="31089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0C8"/>
                </a:solidFill>
              </a:rPr>
              <a:t>Schéma déclaratif en SDL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3657600"/>
            <a:ext cx="4114800" cy="804672"/>
          </a:xfrm>
          <a:prstGeom prst="rect">
            <a:avLst/>
          </a:prstGeom>
          <a:solidFill>
            <a:srgbClr val="16213E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37033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🚀 Introspection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754880" y="40233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0C8"/>
                </a:solidFill>
              </a:rPr>
              <a:t>L'API se documente elle-même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040FB"/>
          </a:solidFill>
          <a:ln w="12700">
            <a:solidFill>
              <a:srgbClr val="E040F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REST vs GraphQL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3840480" cy="41148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686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REST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029200" y="868680"/>
            <a:ext cx="3840480" cy="411480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0" y="8686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GraphQL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3840480" cy="777240"/>
          </a:xfrm>
          <a:prstGeom prst="rect">
            <a:avLst/>
          </a:prstGeom>
          <a:solidFill>
            <a:srgbClr val="16213E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41732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B0C8"/>
                </a:solidFill>
              </a:rPr>
              <a:t>Multiple endpoints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0B0C8"/>
                </a:solidFill>
              </a:rPr>
              <a:t>(/users, /posts, /comments)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0" y="1371600"/>
            <a:ext cx="3840480" cy="777240"/>
          </a:xfrm>
          <a:prstGeom prst="rect">
            <a:avLst/>
          </a:prstGeom>
          <a:solidFill>
            <a:srgbClr val="0F3460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74920" y="141732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Un seul endpoint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(/graphql)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06240" y="1572768"/>
            <a:ext cx="731520" cy="365760"/>
          </a:xfrm>
          <a:prstGeom prst="ellipse">
            <a:avLst/>
          </a:prstGeom>
          <a:solidFill>
            <a:srgbClr val="E040FB"/>
          </a:solidFill>
          <a:ln w="12700">
            <a:solidFill>
              <a:srgbClr val="E040F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06240" y="1572768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267712"/>
            <a:ext cx="3840480" cy="777240"/>
          </a:xfrm>
          <a:prstGeom prst="rect">
            <a:avLst/>
          </a:prstGeom>
          <a:solidFill>
            <a:srgbClr val="16213E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313432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B0C8"/>
                </a:solidFill>
              </a:rPr>
              <a:t>Over-fetching / Under-fetching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0B0C8"/>
                </a:solidFill>
              </a:rPr>
              <a:t>fréquents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0" y="2267712"/>
            <a:ext cx="3840480" cy="777240"/>
          </a:xfrm>
          <a:prstGeom prst="rect">
            <a:avLst/>
          </a:prstGeom>
          <a:solidFill>
            <a:srgbClr val="0F3460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74920" y="2313432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Données exactes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demandées par le client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206240" y="2468880"/>
            <a:ext cx="731520" cy="365760"/>
          </a:xfrm>
          <a:prstGeom prst="ellipse">
            <a:avLst/>
          </a:prstGeom>
          <a:solidFill>
            <a:srgbClr val="E040FB"/>
          </a:solidFill>
          <a:ln w="12700">
            <a:solidFill>
              <a:srgbClr val="E040F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06240" y="24688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163824"/>
            <a:ext cx="3840480" cy="777240"/>
          </a:xfrm>
          <a:prstGeom prst="rect">
            <a:avLst/>
          </a:prstGeom>
          <a:solidFill>
            <a:srgbClr val="16213E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209544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B0C8"/>
                </a:solidFill>
              </a:rPr>
              <a:t>Versionnage requis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0B0C8"/>
                </a:solidFill>
              </a:rPr>
              <a:t>(v1, v2, v3...)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29200" y="3163824"/>
            <a:ext cx="3840480" cy="777240"/>
          </a:xfrm>
          <a:prstGeom prst="rect">
            <a:avLst/>
          </a:prstGeom>
          <a:solidFill>
            <a:srgbClr val="0F3460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74920" y="3209544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Évolution sans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versionnage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206240" y="3364992"/>
            <a:ext cx="731520" cy="365760"/>
          </a:xfrm>
          <a:prstGeom prst="ellipse">
            <a:avLst/>
          </a:prstGeom>
          <a:solidFill>
            <a:srgbClr val="E040FB"/>
          </a:solidFill>
          <a:ln w="12700">
            <a:solidFill>
              <a:srgbClr val="E040F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06240" y="3364992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" y="4059936"/>
            <a:ext cx="3840480" cy="777240"/>
          </a:xfrm>
          <a:prstGeom prst="rect">
            <a:avLst/>
          </a:prstGeom>
          <a:solidFill>
            <a:srgbClr val="16213E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4105656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B0C8"/>
                </a:solidFill>
              </a:rPr>
              <a:t>Documentation séparée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0B0C8"/>
                </a:solidFill>
              </a:rPr>
              <a:t>(Swagger, etc.)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29200" y="4059936"/>
            <a:ext cx="3840480" cy="777240"/>
          </a:xfrm>
          <a:prstGeom prst="rect">
            <a:avLst/>
          </a:prstGeom>
          <a:solidFill>
            <a:srgbClr val="0F3460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74920" y="4105656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Introspection native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autodocumentée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206240" y="4261104"/>
            <a:ext cx="731520" cy="365760"/>
          </a:xfrm>
          <a:prstGeom prst="ellipse">
            <a:avLst/>
          </a:prstGeom>
          <a:solidFill>
            <a:srgbClr val="E040FB"/>
          </a:solidFill>
          <a:ln w="12700">
            <a:solidFill>
              <a:srgbClr val="E040F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06240" y="4261104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040FB"/>
          </a:solidFill>
          <a:ln w="12700">
            <a:solidFill>
              <a:srgbClr val="E040F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Concepts clés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788920" cy="1737360"/>
          </a:xfrm>
          <a:prstGeom prst="rect">
            <a:avLst/>
          </a:prstGeom>
          <a:solidFill>
            <a:srgbClr val="0F3460"/>
          </a:solidFill>
          <a:ln w="25400">
            <a:solidFill>
              <a:srgbClr val="7C4D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2788920" cy="411480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6012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📋  Schema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26060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0B0C8"/>
                </a:solidFill>
              </a:rPr>
              <a:t>Contrat entre client et serveur. Définit les types, queries, mutations et subscriptions disponibles.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18688" y="960120"/>
            <a:ext cx="2788920" cy="1737360"/>
          </a:xfrm>
          <a:prstGeom prst="rect">
            <a:avLst/>
          </a:prstGeom>
          <a:solidFill>
            <a:srgbClr val="0F3460"/>
          </a:solidFill>
          <a:ln w="25400">
            <a:solidFill>
              <a:srgbClr val="00BC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18688" y="960120"/>
            <a:ext cx="2788920" cy="41148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18688" y="96012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🔍  Query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310128" y="1417320"/>
            <a:ext cx="26060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0B0C8"/>
                </a:solidFill>
              </a:rPr>
              <a:t>Lecture de données. Le client décrit exactement les champs dont il a besoin.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63056" y="960120"/>
            <a:ext cx="2788920" cy="1737360"/>
          </a:xfrm>
          <a:prstGeom prst="rect">
            <a:avLst/>
          </a:prstGeom>
          <a:solidFill>
            <a:srgbClr val="0F3460"/>
          </a:solidFill>
          <a:ln w="25400">
            <a:solidFill>
              <a:srgbClr val="00E5A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63056" y="960120"/>
            <a:ext cx="2788920" cy="41148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63056" y="96012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✏️  Mutation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254496" y="1417320"/>
            <a:ext cx="26060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0B0C8"/>
                </a:solidFill>
              </a:rPr>
              <a:t>Création, modification ou suppression de données côté serveur.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74320" y="2880360"/>
            <a:ext cx="2788920" cy="1737360"/>
          </a:xfrm>
          <a:prstGeom prst="rect">
            <a:avLst/>
          </a:prstGeom>
          <a:solidFill>
            <a:srgbClr val="0F3460"/>
          </a:solidFill>
          <a:ln w="25400">
            <a:solidFill>
              <a:srgbClr val="FF6B6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2880360"/>
            <a:ext cx="2788920" cy="41148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88036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🔔  Subscription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65760" y="3337560"/>
            <a:ext cx="26060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0B0C8"/>
                </a:solidFill>
              </a:rPr>
              <a:t>Mises à jour en temps réel via WebSocket. Le client reçoit les changements automatiquement.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218688" y="2880360"/>
            <a:ext cx="2788920" cy="1737360"/>
          </a:xfrm>
          <a:prstGeom prst="rect">
            <a:avLst/>
          </a:prstGeom>
          <a:solidFill>
            <a:srgbClr val="0F3460"/>
          </a:solidFill>
          <a:ln w="25400">
            <a:solidFill>
              <a:srgbClr val="FFB3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18688" y="2880360"/>
            <a:ext cx="2788920" cy="41148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18688" y="288036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🔗  Resolver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310128" y="3337560"/>
            <a:ext cx="26060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0B0C8"/>
                </a:solidFill>
              </a:rPr>
              <a:t>Fonction qui récupère les données pour chaque champ du schéma.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163056" y="2880360"/>
            <a:ext cx="2788920" cy="1737360"/>
          </a:xfrm>
          <a:prstGeom prst="rect">
            <a:avLst/>
          </a:prstGeom>
          <a:solidFill>
            <a:srgbClr val="0F3460"/>
          </a:solidFill>
          <a:ln w="25400">
            <a:solidFill>
              <a:srgbClr val="E040F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63056" y="2880360"/>
            <a:ext cx="2788920" cy="411480"/>
          </a:xfrm>
          <a:prstGeom prst="rect">
            <a:avLst/>
          </a:prstGeom>
          <a:solidFill>
            <a:srgbClr val="E040FB"/>
          </a:solidFill>
          <a:ln w="12700">
            <a:solidFill>
              <a:srgbClr val="E040F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63056" y="288036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🧩  Fragment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254496" y="3337560"/>
            <a:ext cx="26060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0B0C8"/>
                </a:solidFill>
              </a:rPr>
              <a:t>Unité réutilisable de champs pour éviter la duplication dans les requêtes.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040FB"/>
          </a:solidFill>
          <a:ln w="12700">
            <a:solidFill>
              <a:srgbClr val="E040F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GraphQL en action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114800" cy="347472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6868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📤  Requête du client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216152"/>
            <a:ext cx="4114800" cy="3200400"/>
          </a:xfrm>
          <a:prstGeom prst="rect">
            <a:avLst/>
          </a:prstGeom>
          <a:solidFill>
            <a:srgbClr val="0D1117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07592"/>
            <a:ext cx="38404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040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GetUser {
</a:t>
            </a:r>
            <a:pPr indent="0" marL="0">
              <a:buNone/>
            </a:pPr>
            <a:r>
              <a:rPr lang="en-US" sz="1300" dirty="0">
                <a:solidFill>
                  <a:srgbClr val="B0B0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user(id: </a:t>
            </a:r>
            <a:pPr indent="0" marL="0">
              <a:buNone/>
            </a:pPr>
            <a:r>
              <a:rPr lang="en-US" sz="130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"42"</a:t>
            </a:r>
            <a:pPr indent="0" marL="0">
              <a:buNone/>
            </a:pPr>
            <a:r>
              <a:rPr lang="en-US" sz="1300" dirty="0">
                <a:solidFill>
                  <a:srgbClr val="B0B0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
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email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avatar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posts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title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likes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868680"/>
            <a:ext cx="4114800" cy="347472"/>
          </a:xfrm>
          <a:prstGeom prst="rect">
            <a:avLst/>
          </a:prstGeom>
          <a:solidFill>
            <a:srgbClr val="00E5A0">
              <a:alpha val="70000"/>
            </a:srgbClr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86868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📥  Réponse du serveur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1216152"/>
            <a:ext cx="4114800" cy="3200400"/>
          </a:xfrm>
          <a:prstGeom prst="rect">
            <a:avLst/>
          </a:prstGeom>
          <a:solidFill>
            <a:srgbClr val="0D1117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307592"/>
            <a:ext cx="38404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
</a:t>
            </a:r>
            <a:pPr indent="0" marL="0">
              <a:buNone/>
            </a:pPr>
            <a:r>
              <a:rPr lang="en-US" sz="1150" dirty="0">
                <a:solidFill>
                  <a:srgbClr val="B0B0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"data": {
    "user": {
</a:t>
            </a:r>
            <a:pPr indent="0" marL="0">
              <a:buNone/>
            </a:pPr>
            <a:r>
              <a:rPr lang="en-US" sz="1150" dirty="0">
                <a:solidFill>
                  <a:srgbClr val="E040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"name"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15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"Alice Martin"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</a:t>
            </a:r>
            <a:pPr indent="0" marL="0">
              <a:buNone/>
            </a:pPr>
            <a:r>
              <a:rPr lang="en-US" sz="1150" dirty="0">
                <a:solidFill>
                  <a:srgbClr val="E040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"email"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15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"alice@example.com"</a:t>
            </a:r>
            <a:pPr indent="0" marL="0">
              <a:buNone/>
            </a:pPr>
            <a:r>
              <a:rPr lang="en-US" sz="1150" dirty="0">
                <a:solidFill>
                  <a:srgbClr val="B0B0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      "posts": [
        {
</a:t>
            </a:r>
            <a:pPr indent="0" marL="0">
              <a:buNone/>
            </a:pPr>
            <a:r>
              <a:rPr lang="en-US" sz="1150" dirty="0">
                <a:solidFill>
                  <a:srgbClr val="E040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"title"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15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 GraphQL"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</a:t>
            </a:r>
            <a:pPr indent="0" marL="0">
              <a:buNone/>
            </a:pPr>
            <a:r>
              <a:rPr lang="en-US" sz="1150" dirty="0">
                <a:solidFill>
                  <a:srgbClr val="E040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"likes"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15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142
</a:t>
            </a:r>
            <a:pPr indent="0" marL="0">
              <a:buNone/>
            </a:pPr>
            <a:r>
              <a:rPr lang="en-US" sz="1150" dirty="0">
                <a:solidFill>
                  <a:srgbClr val="B0B0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0B0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]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0B0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0B0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0B0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040FB"/>
          </a:solidFill>
          <a:ln w="12700">
            <a:solidFill>
              <a:srgbClr val="E040F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Écosystème &amp; Outils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2011680" cy="365760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686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Serveurs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2011680" cy="3474720"/>
          </a:xfrm>
          <a:prstGeom prst="rect">
            <a:avLst/>
          </a:prstGeom>
          <a:solidFill>
            <a:srgbClr val="0F3460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258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▸ Apollo Server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9659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▸ GraphQL Yoga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26060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▸ Hasura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32461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▸ Strawberry (Python)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38862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▸ Ariadne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441448" y="868680"/>
            <a:ext cx="2011680" cy="36576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41448" y="8686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Clients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441448" y="1234440"/>
            <a:ext cx="2011680" cy="3474720"/>
          </a:xfrm>
          <a:prstGeom prst="rect">
            <a:avLst/>
          </a:prstGeom>
          <a:solidFill>
            <a:srgbClr val="0F3460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32888" y="13258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▸ Apollo Client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32888" y="19659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▸ urql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532888" y="26060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▸ Relay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532888" y="32461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▸ React Query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532888" y="38862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▸ SWR + GraphQL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08576" y="868680"/>
            <a:ext cx="2011680" cy="365760"/>
          </a:xfrm>
          <a:prstGeom prst="rect">
            <a:avLst/>
          </a:prstGeom>
          <a:solidFill>
            <a:srgbClr val="E040FB"/>
          </a:solidFill>
          <a:ln w="12700">
            <a:solidFill>
              <a:srgbClr val="E040F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08576" y="8686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Dev Tools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08576" y="1234440"/>
            <a:ext cx="2011680" cy="3474720"/>
          </a:xfrm>
          <a:prstGeom prst="rect">
            <a:avLst/>
          </a:prstGeom>
          <a:solidFill>
            <a:srgbClr val="0F3460"/>
          </a:solidFill>
          <a:ln w="12700">
            <a:solidFill>
              <a:srgbClr val="E040F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0016" y="13258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▸ GraphiQL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00016" y="19659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▸ Apollo Studio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00016" y="26060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▸ Insomnia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00016" y="32461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▸ Altair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00016" y="38862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▸ GraphQL Inspector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775704" y="868680"/>
            <a:ext cx="2011680" cy="36576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75704" y="8686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Adoption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775704" y="1234440"/>
            <a:ext cx="2011680" cy="3474720"/>
          </a:xfrm>
          <a:prstGeom prst="rect">
            <a:avLst/>
          </a:prstGeom>
          <a:solidFill>
            <a:srgbClr val="0F346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67144" y="13258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▸ GitHub API v4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867144" y="19659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▸ Facebook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867144" y="26060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▸ Twitter/X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867144" y="32461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▸ Shopify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867144" y="38862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▸ Airbnb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040FB"/>
          </a:solidFill>
          <a:ln w="12700">
            <a:solidFill>
              <a:srgbClr val="E040F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Avantages &amp; Limites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3931920" cy="384048"/>
          </a:xfrm>
          <a:prstGeom prst="rect">
            <a:avLst/>
          </a:prstGeom>
          <a:solidFill>
            <a:srgbClr val="00E5A0">
              <a:alpha val="80000"/>
            </a:srgbClr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6868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</a:rPr>
              <a:t>✅  Avantages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4320" y="1252728"/>
            <a:ext cx="3931920" cy="3657600"/>
          </a:xfrm>
          <a:prstGeom prst="rect">
            <a:avLst/>
          </a:prstGeom>
          <a:solidFill>
            <a:srgbClr val="16213E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2588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✓  Réduction du nombre de requêtes réseau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65760" y="198424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✓  Typage fort — moins de bugs d'intégration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65760" y="2642616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✓  Documentation automatique via introspection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65760" y="3300984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✓  Développement frontend/backend indépendant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65760" y="3959352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✓  Parfait pour les architectures microservices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937760" y="868680"/>
            <a:ext cx="3931920" cy="384048"/>
          </a:xfrm>
          <a:prstGeom prst="rect">
            <a:avLst/>
          </a:prstGeom>
          <a:solidFill>
            <a:srgbClr val="FF6B6B">
              <a:alpha val="80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86868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</a:rPr>
              <a:t>⚠️  Limites &amp; Points d'attention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937760" y="1252728"/>
            <a:ext cx="3931920" cy="3657600"/>
          </a:xfrm>
          <a:prstGeom prst="rect">
            <a:avLst/>
          </a:prstGeom>
          <a:solidFill>
            <a:srgbClr val="16213E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0" y="132588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0B0C8"/>
                </a:solidFill>
              </a:rPr>
              <a:t>⚡  Complexité initiale plus élevée que REST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029200" y="198424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0B0C8"/>
                </a:solidFill>
              </a:rPr>
              <a:t>⚡  Cache HTTP difficile à mettre en place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029200" y="2642616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0B0C8"/>
                </a:solidFill>
              </a:rPr>
              <a:t>⚡  Risque de requêtes N+1 sans DataLoader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029200" y="3300984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0B0C8"/>
                </a:solidFill>
              </a:rPr>
              <a:t>⚡  Courbe d'apprentissage pour les équipes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029200" y="3959352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0B0C8"/>
                </a:solidFill>
              </a:rPr>
              <a:t>⚡  Surcharge pour des APIs très simples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040FB"/>
          </a:solidFill>
          <a:ln w="12700">
            <a:solidFill>
              <a:srgbClr val="E040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749040" y="457200"/>
            <a:ext cx="1645920" cy="1645920"/>
          </a:xfrm>
          <a:prstGeom prst="ellipse">
            <a:avLst/>
          </a:prstGeom>
          <a:solidFill>
            <a:srgbClr val="7C4DFF"/>
          </a:solidFill>
          <a:ln w="38100">
            <a:solidFill>
              <a:srgbClr val="E040F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749040" y="45720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⬡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GraphQL, le bon choix ?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283464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B0B0C8"/>
                </a:solidFill>
              </a:rPr>
              <a:t>Idéal si vous avez des clients multiples avec des besoins variés,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i="1" dirty="0">
                <a:solidFill>
                  <a:srgbClr val="B0B0C8"/>
                </a:solidFill>
              </a:rPr>
              <a:t>une architecture microservices, ou des UIs riches en données.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3703320"/>
            <a:ext cx="1828800" cy="475488"/>
          </a:xfrm>
          <a:prstGeom prst="roundRect">
            <a:avLst>
              <a:gd name="adj" fmla="val 19231"/>
            </a:avLst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3703320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📱 Apps mobile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560320" y="3703320"/>
            <a:ext cx="1828800" cy="475488"/>
          </a:xfrm>
          <a:prstGeom prst="roundRect">
            <a:avLst>
              <a:gd name="adj" fmla="val 19231"/>
            </a:avLst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3703320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🌐 SPAs complexes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617720" y="3703320"/>
            <a:ext cx="1828800" cy="475488"/>
          </a:xfrm>
          <a:prstGeom prst="roundRect">
            <a:avLst>
              <a:gd name="adj" fmla="val 19231"/>
            </a:avLst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3703320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🏗️ Microservices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0" y="3703320"/>
            <a:ext cx="1828800" cy="475488"/>
          </a:xfrm>
          <a:prstGeom prst="roundRect">
            <a:avLst>
              <a:gd name="adj" fmla="val 19231"/>
            </a:avLst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0" y="3703320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🤝 APIs partenaires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0" y="43434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0C8"/>
                </a:solidFill>
              </a:rPr>
              <a:t>graphql.org  ·  spec.graphql.org  ·  github.com/graphql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à GraphQL</dc:title>
  <dc:subject>PptxGenJS Presentation</dc:subject>
  <dc:creator>PptxGenJS</dc:creator>
  <cp:lastModifiedBy>PptxGenJS</cp:lastModifiedBy>
  <cp:revision>1</cp:revision>
  <dcterms:created xsi:type="dcterms:W3CDTF">2026-02-23T07:52:02Z</dcterms:created>
  <dcterms:modified xsi:type="dcterms:W3CDTF">2026-02-23T07:52:02Z</dcterms:modified>
</cp:coreProperties>
</file>